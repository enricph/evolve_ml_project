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5" r:id="rId4"/>
    <p:sldId id="264" r:id="rId5"/>
    <p:sldId id="266" r:id="rId6"/>
    <p:sldId id="267" r:id="rId7"/>
    <p:sldId id="268" r:id="rId8"/>
    <p:sldId id="269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952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487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53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134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46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898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" panose="020B0502040204020203" pitchFamily="34" charset="0"/>
              </a:rPr>
              <a:t>Modelo de Fidelización y Recompra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Descripción del Problema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9C328F-2755-408A-B2E8-97DD45FA9BB2}"/>
              </a:ext>
            </a:extLst>
          </p:cNvPr>
          <p:cNvSpPr/>
          <p:nvPr/>
        </p:nvSpPr>
        <p:spPr>
          <a:xfrm>
            <a:off x="311700" y="1176617"/>
            <a:ext cx="3292113" cy="1062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dirty="0">
                <a:latin typeface="Bahnschrift" panose="020B0502040204020203" pitchFamily="34" charset="0"/>
              </a:rPr>
              <a:t>Empresa de </a:t>
            </a:r>
            <a:r>
              <a:rPr lang="es-ES" dirty="0" err="1">
                <a:latin typeface="Bahnschrift" panose="020B0502040204020203" pitchFamily="34" charset="0"/>
              </a:rPr>
              <a:t>Retail</a:t>
            </a:r>
            <a:endParaRPr lang="es-ES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s-ES" dirty="0">
                <a:latin typeface="Bahnschrift" panose="020B0502040204020203" pitchFamily="34" charset="0"/>
              </a:rPr>
              <a:t>Reino Unido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Bahnschrift" panose="020B0502040204020203" pitchFamily="34" charset="0"/>
              </a:rPr>
              <a:t>5490 clientes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Bahnschrift" panose="020B0502040204020203" pitchFamily="34" charset="0"/>
              </a:rPr>
              <a:t>1067371 pedidos (2010 – 2011)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C4ECE5-A629-4917-ADAF-8963E8321511}"/>
              </a:ext>
            </a:extLst>
          </p:cNvPr>
          <p:cNvSpPr/>
          <p:nvPr/>
        </p:nvSpPr>
        <p:spPr>
          <a:xfrm>
            <a:off x="4071098" y="1176617"/>
            <a:ext cx="4114800" cy="4504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Mapa de Densidad de Clientes</a:t>
            </a:r>
          </a:p>
        </p:txBody>
      </p:sp>
      <p:sp>
        <p:nvSpPr>
          <p:cNvPr id="18" name="Título 4">
            <a:extLst>
              <a:ext uri="{FF2B5EF4-FFF2-40B4-BE49-F238E27FC236}">
                <a16:creationId xmlns:a16="http://schemas.microsoft.com/office/drawing/2014/main" id="{62A088E5-A917-4648-AEB1-186605720032}"/>
              </a:ext>
            </a:extLst>
          </p:cNvPr>
          <p:cNvSpPr txBox="1">
            <a:spLocks/>
          </p:cNvSpPr>
          <p:nvPr/>
        </p:nvSpPr>
        <p:spPr>
          <a:xfrm>
            <a:off x="311700" y="2524685"/>
            <a:ext cx="2828188" cy="5727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Objetivo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B76A388-10A7-49CC-BB94-814819A8EF49}"/>
              </a:ext>
            </a:extLst>
          </p:cNvPr>
          <p:cNvSpPr/>
          <p:nvPr/>
        </p:nvSpPr>
        <p:spPr>
          <a:xfrm>
            <a:off x="311701" y="3477266"/>
            <a:ext cx="3292112" cy="12841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Bahnschrift" panose="020B0502040204020203" pitchFamily="34" charset="0"/>
              </a:rPr>
              <a:t>¿Qué clientes tienen mayor probabilidad de recompra?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BCD507-D609-4568-9304-E520812FC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07"/>
          <a:stretch/>
        </p:blipFill>
        <p:spPr>
          <a:xfrm>
            <a:off x="3330615" y="1788355"/>
            <a:ext cx="5595765" cy="281976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0DB789-18B3-45F6-97CA-99212727738B}"/>
              </a:ext>
            </a:extLst>
          </p:cNvPr>
          <p:cNvSpPr txBox="1"/>
          <p:nvPr/>
        </p:nvSpPr>
        <p:spPr>
          <a:xfrm>
            <a:off x="217620" y="3121526"/>
            <a:ext cx="1667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Bahnschrift" panose="020B0502040204020203" pitchFamily="34" charset="0"/>
              </a:rPr>
              <a:t>Identificar: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Insights</a:t>
            </a:r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 - Países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3CB9C80-5DF5-46E8-A4BC-C493C434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772670"/>
            <a:ext cx="2247372" cy="2314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86E414A-93C1-48C6-B396-57805368D8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2844053" y="1832893"/>
            <a:ext cx="5988247" cy="2193627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EFEDF08-BF5C-42A6-8594-875E6AEE762D}"/>
              </a:ext>
            </a:extLst>
          </p:cNvPr>
          <p:cNvSpPr/>
          <p:nvPr/>
        </p:nvSpPr>
        <p:spPr>
          <a:xfrm>
            <a:off x="433505" y="1465729"/>
            <a:ext cx="2003762" cy="4512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Contribución de Ventas por País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876637-B65F-453A-927A-D03373E1D89B}"/>
              </a:ext>
            </a:extLst>
          </p:cNvPr>
          <p:cNvSpPr/>
          <p:nvPr/>
        </p:nvSpPr>
        <p:spPr>
          <a:xfrm>
            <a:off x="4095586" y="1446433"/>
            <a:ext cx="2903607" cy="512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Ventas sobre el Tiempo por País</a:t>
            </a:r>
          </a:p>
        </p:txBody>
      </p:sp>
    </p:spTree>
    <p:extLst>
      <p:ext uri="{BB962C8B-B14F-4D97-AF65-F5344CB8AC3E}">
        <p14:creationId xmlns:p14="http://schemas.microsoft.com/office/powerpoint/2010/main" val="421298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Transformación de Datos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ABEEEE-7A7A-4AF1-9368-06D032B97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62" y="1163776"/>
            <a:ext cx="3950074" cy="1231831"/>
          </a:xfrm>
          <a:prstGeom prst="rect">
            <a:avLst/>
          </a:prstGeom>
        </p:spPr>
      </p:pic>
      <p:pic>
        <p:nvPicPr>
          <p:cNvPr id="1026" name="Picture 2" descr="Invoice Icon SVG Vector &amp; PNG Free Download | UXWing">
            <a:extLst>
              <a:ext uri="{FF2B5EF4-FFF2-40B4-BE49-F238E27FC236}">
                <a16:creationId xmlns:a16="http://schemas.microsoft.com/office/drawing/2014/main" id="{E00392C2-CAE3-47AF-828E-617CD52E9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95" y="1423631"/>
            <a:ext cx="544325" cy="69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d arrow icon. Right arrow symbol 51573318 Vector Art at Vecteezy">
            <a:extLst>
              <a:ext uri="{FF2B5EF4-FFF2-40B4-BE49-F238E27FC236}">
                <a16:creationId xmlns:a16="http://schemas.microsoft.com/office/drawing/2014/main" id="{68E8F2E2-D27F-415F-9A54-BFB866E8E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39" y="2473478"/>
            <a:ext cx="1426696" cy="838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4C43D07-1BCA-4648-AB71-98C0971D0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017" y="2212928"/>
            <a:ext cx="2357204" cy="1376774"/>
          </a:xfrm>
          <a:prstGeom prst="rect">
            <a:avLst/>
          </a:prstGeom>
        </p:spPr>
      </p:pic>
      <p:pic>
        <p:nvPicPr>
          <p:cNvPr id="1036" name="Picture 12" descr="Client Special Lineal color icon | Freepik">
            <a:extLst>
              <a:ext uri="{FF2B5EF4-FFF2-40B4-BE49-F238E27FC236}">
                <a16:creationId xmlns:a16="http://schemas.microsoft.com/office/drawing/2014/main" id="{AEF5ADF8-94CD-4FC0-9F07-FFB7DC392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108" y="1779691"/>
            <a:ext cx="804583" cy="80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hat is RFM Analysis? Definition, Benefits &amp; Examples">
            <a:extLst>
              <a:ext uri="{FF2B5EF4-FFF2-40B4-BE49-F238E27FC236}">
                <a16:creationId xmlns:a16="http://schemas.microsoft.com/office/drawing/2014/main" id="{F39323A8-053E-436B-B920-5A77727EE3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9" b="6013"/>
          <a:stretch/>
        </p:blipFill>
        <p:spPr bwMode="auto">
          <a:xfrm>
            <a:off x="1700381" y="2901315"/>
            <a:ext cx="2613437" cy="197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98F9DA1F-15C8-4D6D-ABD0-DC31E66F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616" y="2423596"/>
            <a:ext cx="468966" cy="46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Insights</a:t>
            </a:r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 - Clientes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8CF133-8859-40EA-B640-6D12F155171B}"/>
              </a:ext>
            </a:extLst>
          </p:cNvPr>
          <p:cNvSpPr/>
          <p:nvPr/>
        </p:nvSpPr>
        <p:spPr>
          <a:xfrm>
            <a:off x="678927" y="2112511"/>
            <a:ext cx="1467335" cy="382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Recency</a:t>
            </a:r>
            <a:r>
              <a:rPr lang="es-ES" dirty="0"/>
              <a:t> (</a:t>
            </a:r>
            <a:r>
              <a:rPr lang="es-ES" dirty="0" err="1"/>
              <a:t>days</a:t>
            </a:r>
            <a:r>
              <a:rPr lang="es-ES" dirty="0"/>
              <a:t>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B696F93-069D-4004-91B0-EF6296BBEB9A}"/>
              </a:ext>
            </a:extLst>
          </p:cNvPr>
          <p:cNvSpPr/>
          <p:nvPr/>
        </p:nvSpPr>
        <p:spPr>
          <a:xfrm>
            <a:off x="2865531" y="2105687"/>
            <a:ext cx="1312074" cy="382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Frequency</a:t>
            </a:r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D841EAB-AA06-4DBF-9D2F-680A8D202AC8}"/>
              </a:ext>
            </a:extLst>
          </p:cNvPr>
          <p:cNvSpPr/>
          <p:nvPr/>
        </p:nvSpPr>
        <p:spPr>
          <a:xfrm>
            <a:off x="7167282" y="2119234"/>
            <a:ext cx="1556496" cy="382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Lifetime</a:t>
            </a:r>
            <a:r>
              <a:rPr lang="es-ES" dirty="0"/>
              <a:t> (</a:t>
            </a:r>
            <a:r>
              <a:rPr lang="es-ES" dirty="0" err="1"/>
              <a:t>days</a:t>
            </a:r>
            <a:r>
              <a:rPr lang="es-ES" dirty="0"/>
              <a:t>)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C6370CA-DA92-4334-9128-FEFC738EC0D7}"/>
              </a:ext>
            </a:extLst>
          </p:cNvPr>
          <p:cNvGrpSpPr/>
          <p:nvPr/>
        </p:nvGrpSpPr>
        <p:grpSpPr>
          <a:xfrm>
            <a:off x="6067974" y="1190887"/>
            <a:ext cx="2653473" cy="838274"/>
            <a:chOff x="1190065" y="1066098"/>
            <a:chExt cx="2653473" cy="838274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63FEE0DE-8E7D-401D-9EB6-B42037C04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065" y="1066098"/>
              <a:ext cx="634875" cy="601460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1CDF45A4-EDE4-4D35-8C53-AF4E40544FDD}"/>
                </a:ext>
              </a:extLst>
            </p:cNvPr>
            <p:cNvSpPr txBox="1"/>
            <p:nvPr/>
          </p:nvSpPr>
          <p:spPr>
            <a:xfrm>
              <a:off x="1470132" y="1258041"/>
              <a:ext cx="237340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Bahnschrift" panose="020B0502040204020203" pitchFamily="34" charset="0"/>
                </a:rPr>
                <a:t>Clientes SIN recompras</a:t>
              </a:r>
            </a:p>
            <a:p>
              <a:r>
                <a:rPr lang="es-ES" sz="1100" dirty="0">
                  <a:latin typeface="Bahnschrift" panose="020B0502040204020203" pitchFamily="34" charset="0"/>
                </a:rPr>
                <a:t>Clientes CON recompras</a:t>
              </a:r>
            </a:p>
            <a:p>
              <a:endParaRPr lang="es-ES" dirty="0"/>
            </a:p>
          </p:txBody>
        </p:sp>
      </p:grp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4C0B937-B1AD-4D83-9753-41A9EF15E8C8}"/>
              </a:ext>
            </a:extLst>
          </p:cNvPr>
          <p:cNvSpPr/>
          <p:nvPr/>
        </p:nvSpPr>
        <p:spPr>
          <a:xfrm>
            <a:off x="5135940" y="2112511"/>
            <a:ext cx="1312074" cy="382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Monetary</a:t>
            </a:r>
            <a:endParaRPr lang="es-ES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15063C6-6EE1-4511-8271-54843FED1CD2}"/>
              </a:ext>
            </a:extLst>
          </p:cNvPr>
          <p:cNvGrpSpPr/>
          <p:nvPr/>
        </p:nvGrpSpPr>
        <p:grpSpPr>
          <a:xfrm>
            <a:off x="311700" y="2703366"/>
            <a:ext cx="1866272" cy="1993959"/>
            <a:chOff x="311700" y="2703366"/>
            <a:chExt cx="1866272" cy="199395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E757D0C7-558C-4FE8-AF5E-83EA898EC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/>
            <a:stretch/>
          </p:blipFill>
          <p:spPr>
            <a:xfrm>
              <a:off x="311700" y="2703366"/>
              <a:ext cx="1866272" cy="1659791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A8341AA5-58A8-408C-849B-7B9CC49620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1" r="80174"/>
            <a:stretch/>
          </p:blipFill>
          <p:spPr>
            <a:xfrm>
              <a:off x="570951" y="4316108"/>
              <a:ext cx="1602945" cy="381217"/>
            </a:xfrm>
            <a:prstGeom prst="rect">
              <a:avLst/>
            </a:prstGeom>
          </p:spPr>
        </p:pic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E6696C3-9E51-4DD1-9FF6-C0A5591DF514}"/>
              </a:ext>
            </a:extLst>
          </p:cNvPr>
          <p:cNvGrpSpPr/>
          <p:nvPr/>
        </p:nvGrpSpPr>
        <p:grpSpPr>
          <a:xfrm>
            <a:off x="6768829" y="2711470"/>
            <a:ext cx="1954949" cy="2069888"/>
            <a:chOff x="6768829" y="2711470"/>
            <a:chExt cx="1954949" cy="2069888"/>
          </a:xfrm>
        </p:grpSpPr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5947AFD0-F6CE-4DA1-BCFC-D55300476F20}"/>
                </a:ext>
              </a:extLst>
            </p:cNvPr>
            <p:cNvGrpSpPr/>
            <p:nvPr/>
          </p:nvGrpSpPr>
          <p:grpSpPr>
            <a:xfrm>
              <a:off x="6768829" y="2711470"/>
              <a:ext cx="1954949" cy="1748179"/>
              <a:chOff x="6768829" y="2711470"/>
              <a:chExt cx="1954949" cy="1748179"/>
            </a:xfrm>
          </p:grpSpPr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8C60DB80-24E0-4DB9-BEC1-51308108E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6039" y="2720702"/>
                <a:ext cx="1697739" cy="1738947"/>
              </a:xfrm>
              <a:prstGeom prst="rect">
                <a:avLst/>
              </a:prstGeom>
            </p:spPr>
          </p:pic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B5719A9D-BE96-4CF0-B87C-82B2C89859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40312"/>
              <a:stretch/>
            </p:blipFill>
            <p:spPr>
              <a:xfrm>
                <a:off x="6768829" y="2711470"/>
                <a:ext cx="343683" cy="1710953"/>
              </a:xfrm>
              <a:prstGeom prst="rect">
                <a:avLst/>
              </a:prstGeom>
            </p:spPr>
          </p:pic>
        </p:grpSp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BCF6110D-3B6E-47FA-90F2-6AAE2A987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80072"/>
            <a:stretch/>
          </p:blipFill>
          <p:spPr>
            <a:xfrm>
              <a:off x="7023708" y="4379658"/>
              <a:ext cx="1697739" cy="401700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80544DCB-979F-4BDC-9742-A9A6B77D487B}"/>
              </a:ext>
            </a:extLst>
          </p:cNvPr>
          <p:cNvGrpSpPr/>
          <p:nvPr/>
        </p:nvGrpSpPr>
        <p:grpSpPr>
          <a:xfrm>
            <a:off x="4356775" y="2644098"/>
            <a:ext cx="2210679" cy="2140261"/>
            <a:chOff x="4356775" y="2644098"/>
            <a:chExt cx="2210679" cy="2140261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C49EC9AD-42C9-4FAB-AE7A-E807C4754925}"/>
                </a:ext>
              </a:extLst>
            </p:cNvPr>
            <p:cNvGrpSpPr/>
            <p:nvPr/>
          </p:nvGrpSpPr>
          <p:grpSpPr>
            <a:xfrm>
              <a:off x="4356775" y="2644098"/>
              <a:ext cx="2148941" cy="1770221"/>
              <a:chOff x="4336837" y="2652201"/>
              <a:chExt cx="2148941" cy="1770221"/>
            </a:xfrm>
          </p:grpSpPr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D71992CB-97AB-49B1-BD58-6AC0B77991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71792" y="2683475"/>
                <a:ext cx="1713986" cy="1738947"/>
              </a:xfrm>
              <a:prstGeom prst="rect">
                <a:avLst/>
              </a:prstGeom>
            </p:spPr>
          </p:pic>
          <p:pic>
            <p:nvPicPr>
              <p:cNvPr id="27" name="Imagen 26">
                <a:extLst>
                  <a:ext uri="{FF2B5EF4-FFF2-40B4-BE49-F238E27FC236}">
                    <a16:creationId xmlns:a16="http://schemas.microsoft.com/office/drawing/2014/main" id="{7E79E6B4-0870-4F10-A29C-51344E7742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23320"/>
              <a:stretch/>
            </p:blipFill>
            <p:spPr>
              <a:xfrm>
                <a:off x="4336837" y="2652201"/>
                <a:ext cx="536886" cy="1763083"/>
              </a:xfrm>
              <a:prstGeom prst="rect">
                <a:avLst/>
              </a:prstGeom>
            </p:spPr>
          </p:pic>
        </p:grp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BD40D53B-1E0B-47E1-9925-B5D49742E9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9937" r="39745"/>
            <a:stretch/>
          </p:blipFill>
          <p:spPr>
            <a:xfrm>
              <a:off x="4778282" y="4369134"/>
              <a:ext cx="1789172" cy="415225"/>
            </a:xfrm>
            <a:prstGeom prst="rect">
              <a:avLst/>
            </a:prstGeom>
          </p:spPr>
        </p:pic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F2217022-042F-4979-99FF-3D68467FBD98}"/>
              </a:ext>
            </a:extLst>
          </p:cNvPr>
          <p:cNvGrpSpPr/>
          <p:nvPr/>
        </p:nvGrpSpPr>
        <p:grpSpPr>
          <a:xfrm>
            <a:off x="2353235" y="2644098"/>
            <a:ext cx="1926048" cy="2092660"/>
            <a:chOff x="2353235" y="2644098"/>
            <a:chExt cx="1926048" cy="209266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EF94F7D7-32DE-4F83-9064-341F1FF0B2FF}"/>
                </a:ext>
              </a:extLst>
            </p:cNvPr>
            <p:cNvGrpSpPr/>
            <p:nvPr/>
          </p:nvGrpSpPr>
          <p:grpSpPr>
            <a:xfrm>
              <a:off x="2353235" y="2644098"/>
              <a:ext cx="1926048" cy="1778325"/>
              <a:chOff x="2420471" y="2650339"/>
              <a:chExt cx="1926048" cy="1778325"/>
            </a:xfrm>
          </p:grpSpPr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A9D822AF-3FA3-475D-A7DB-C7FE1A97F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48585" y="2689717"/>
                <a:ext cx="1697934" cy="1738947"/>
              </a:xfrm>
              <a:prstGeom prst="rect">
                <a:avLst/>
              </a:prstGeom>
            </p:spPr>
          </p:pic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7908D0EB-63C7-4ECF-9F50-27E587B9CB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33328"/>
              <a:stretch/>
            </p:blipFill>
            <p:spPr>
              <a:xfrm>
                <a:off x="2420471" y="2650339"/>
                <a:ext cx="331255" cy="1738947"/>
              </a:xfrm>
              <a:prstGeom prst="rect">
                <a:avLst/>
              </a:prstGeom>
            </p:spPr>
          </p:pic>
        </p:grpSp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EECB98D8-8A76-46C4-9899-3C344715B1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0033" r="59969"/>
            <a:stretch/>
          </p:blipFill>
          <p:spPr>
            <a:xfrm>
              <a:off x="2601707" y="4345985"/>
              <a:ext cx="1657404" cy="390773"/>
            </a:xfrm>
            <a:prstGeom prst="rect">
              <a:avLst/>
            </a:prstGeom>
          </p:spPr>
        </p:pic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91D2978-8AA7-42CF-A876-EBA4A8B6FB93}"/>
              </a:ext>
            </a:extLst>
          </p:cNvPr>
          <p:cNvGrpSpPr/>
          <p:nvPr/>
        </p:nvGrpSpPr>
        <p:grpSpPr>
          <a:xfrm>
            <a:off x="345918" y="1093455"/>
            <a:ext cx="5446059" cy="704721"/>
            <a:chOff x="3546697" y="1039314"/>
            <a:chExt cx="5446059" cy="704721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EBA7E524-F1E8-43EE-A575-F0302F25379C}"/>
                </a:ext>
              </a:extLst>
            </p:cNvPr>
            <p:cNvSpPr txBox="1"/>
            <p:nvPr/>
          </p:nvSpPr>
          <p:spPr>
            <a:xfrm>
              <a:off x="3546697" y="1220815"/>
              <a:ext cx="54460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Compras pasadas (Primer 70%) | Compras Futuras (Último 30%)</a:t>
              </a:r>
            </a:p>
            <a:p>
              <a:r>
                <a:rPr lang="es-ES" dirty="0"/>
                <a:t>		      </a:t>
              </a:r>
              <a:r>
                <a:rPr lang="es-ES" dirty="0" err="1"/>
                <a:t>Cut</a:t>
              </a:r>
              <a:r>
                <a:rPr lang="es-ES" dirty="0"/>
                <a:t>-off Date</a:t>
              </a:r>
            </a:p>
          </p:txBody>
        </p:sp>
        <p:pic>
          <p:nvPicPr>
            <p:cNvPr id="5122" name="Picture 2" descr="Curved Arrow Right Red Icon SVG Vector &amp; PNG Free Download | UXWing">
              <a:extLst>
                <a:ext uri="{FF2B5EF4-FFF2-40B4-BE49-F238E27FC236}">
                  <a16:creationId xmlns:a16="http://schemas.microsoft.com/office/drawing/2014/main" id="{00EF7308-500D-4FAA-ADE1-89A028F010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733034" flipV="1">
              <a:off x="6059561" y="1039314"/>
              <a:ext cx="295868" cy="31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289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Modelos y Evaluación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D2E2FFC-1A42-4243-823E-823E5FAC4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16103"/>
            <a:ext cx="6273053" cy="20935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E607CA7-DDAD-4030-9B94-6A76A9DD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85" y="1269733"/>
            <a:ext cx="2166315" cy="17172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6B501D4-34DD-4A0C-90E6-700C2359D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947" y="3308734"/>
            <a:ext cx="3836106" cy="145272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7C79449-6709-4204-A1E4-E42B4511D791}"/>
              </a:ext>
            </a:extLst>
          </p:cNvPr>
          <p:cNvSpPr/>
          <p:nvPr/>
        </p:nvSpPr>
        <p:spPr>
          <a:xfrm>
            <a:off x="2653947" y="4538382"/>
            <a:ext cx="3836106" cy="223078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348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Variables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AF6611-9B22-4459-AE47-427CD0D801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25"/>
          <a:stretch/>
        </p:blipFill>
        <p:spPr>
          <a:xfrm>
            <a:off x="169299" y="1808735"/>
            <a:ext cx="5201593" cy="27623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8A6025-E0FA-4E17-89D9-A985C176DD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62" t="4657" b="173"/>
          <a:stretch/>
        </p:blipFill>
        <p:spPr>
          <a:xfrm>
            <a:off x="5505363" y="1808735"/>
            <a:ext cx="3228502" cy="304170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952D770-1D3E-4AF3-959D-1652C9E1AB6B}"/>
              </a:ext>
            </a:extLst>
          </p:cNvPr>
          <p:cNvSpPr/>
          <p:nvPr/>
        </p:nvSpPr>
        <p:spPr>
          <a:xfrm>
            <a:off x="847167" y="1262980"/>
            <a:ext cx="4114800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Importancia (Normalizada) por Modelo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1F9093-F881-4CA1-865F-CE64A82BDD79}"/>
              </a:ext>
            </a:extLst>
          </p:cNvPr>
          <p:cNvSpPr/>
          <p:nvPr/>
        </p:nvSpPr>
        <p:spPr>
          <a:xfrm>
            <a:off x="5465022" y="1262980"/>
            <a:ext cx="3309184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Importancia Media (Todos los Modelos)</a:t>
            </a:r>
          </a:p>
        </p:txBody>
      </p:sp>
    </p:spTree>
    <p:extLst>
      <p:ext uri="{BB962C8B-B14F-4D97-AF65-F5344CB8AC3E}">
        <p14:creationId xmlns:p14="http://schemas.microsoft.com/office/powerpoint/2010/main" val="20993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Acciones de Negocio y Siguientes Pasos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A55EA8C-9E11-4949-A62A-FF59448A5049}"/>
              </a:ext>
            </a:extLst>
          </p:cNvPr>
          <p:cNvSpPr/>
          <p:nvPr/>
        </p:nvSpPr>
        <p:spPr>
          <a:xfrm>
            <a:off x="311700" y="1433870"/>
            <a:ext cx="4085488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Acciones de Negocio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8DFB412-BC90-437B-9079-6E8F0D4DD933}"/>
              </a:ext>
            </a:extLst>
          </p:cNvPr>
          <p:cNvSpPr/>
          <p:nvPr/>
        </p:nvSpPr>
        <p:spPr>
          <a:xfrm>
            <a:off x="4746811" y="1433869"/>
            <a:ext cx="4085488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Siguientes Pasos</a:t>
            </a:r>
          </a:p>
        </p:txBody>
      </p:sp>
      <p:sp>
        <p:nvSpPr>
          <p:cNvPr id="24" name="Google Shape;97;p17">
            <a:extLst>
              <a:ext uri="{FF2B5EF4-FFF2-40B4-BE49-F238E27FC236}">
                <a16:creationId xmlns:a16="http://schemas.microsoft.com/office/drawing/2014/main" id="{56286245-75E3-438C-A360-66B50DE36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018519"/>
            <a:ext cx="4085488" cy="234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Bahnschrift" panose="020B0502040204020203" pitchFamily="34" charset="0"/>
              </a:rPr>
              <a:t>Clientes con </a:t>
            </a:r>
            <a:r>
              <a:rPr lang="es-ES" sz="1200" b="1" dirty="0">
                <a:latin typeface="Bahnschrift" panose="020B0502040204020203" pitchFamily="34" charset="0"/>
              </a:rPr>
              <a:t>alta</a:t>
            </a:r>
            <a:r>
              <a:rPr lang="es-ES" sz="1200" dirty="0">
                <a:latin typeface="Bahnschrift" panose="020B0502040204020203" pitchFamily="34" charset="0"/>
              </a:rPr>
              <a:t> probabilidad de recompra:</a:t>
            </a:r>
          </a:p>
          <a:p>
            <a:pPr marL="171450" indent="-171450"/>
            <a:r>
              <a:rPr lang="es-ES" sz="1200" dirty="0">
                <a:latin typeface="Bahnschrift" panose="020B0502040204020203" pitchFamily="34" charset="0"/>
              </a:rPr>
              <a:t>Programas de fidelización</a:t>
            </a:r>
          </a:p>
          <a:p>
            <a:pPr marL="171450" indent="-171450"/>
            <a:r>
              <a:rPr lang="es-ES" sz="1200" dirty="0" err="1">
                <a:latin typeface="Bahnschrift" panose="020B0502040204020203" pitchFamily="34" charset="0"/>
              </a:rPr>
              <a:t>Corss-selling</a:t>
            </a:r>
            <a:r>
              <a:rPr lang="es-ES" sz="1200" dirty="0">
                <a:latin typeface="Bahnschrift" panose="020B0502040204020203" pitchFamily="34" charset="0"/>
              </a:rPr>
              <a:t> y </a:t>
            </a:r>
            <a:r>
              <a:rPr lang="es-ES" sz="1200" dirty="0" err="1">
                <a:latin typeface="Bahnschrift" panose="020B0502040204020203" pitchFamily="34" charset="0"/>
              </a:rPr>
              <a:t>upselling</a:t>
            </a:r>
            <a:endParaRPr lang="es-ES" sz="1200" dirty="0">
              <a:latin typeface="Bahnschrift" panose="020B0502040204020203" pitchFamily="34" charset="0"/>
            </a:endParaRPr>
          </a:p>
          <a:p>
            <a:pPr marL="171450" indent="-171450"/>
            <a:r>
              <a:rPr lang="es-ES" sz="1200" dirty="0">
                <a:latin typeface="Bahnschrift" panose="020B0502040204020203" pitchFamily="34" charset="0"/>
              </a:rPr>
              <a:t>Recomendaciones personalizadas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200" dirty="0">
              <a:latin typeface="Bahnschrif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Bahnschrift" panose="020B0502040204020203" pitchFamily="34" charset="0"/>
              </a:rPr>
              <a:t>Clientes con </a:t>
            </a:r>
            <a:r>
              <a:rPr lang="es-ES" sz="1200" b="1" dirty="0">
                <a:latin typeface="Bahnschrift" panose="020B0502040204020203" pitchFamily="34" charset="0"/>
              </a:rPr>
              <a:t>baja</a:t>
            </a:r>
            <a:r>
              <a:rPr lang="es-ES" sz="1200" dirty="0">
                <a:latin typeface="Bahnschrift" panose="020B0502040204020203" pitchFamily="34" charset="0"/>
              </a:rPr>
              <a:t> probabilidad de recompra:</a:t>
            </a:r>
          </a:p>
          <a:p>
            <a:pPr marL="171450" indent="-171450"/>
            <a:r>
              <a:rPr lang="es-ES" sz="1200" dirty="0">
                <a:latin typeface="Bahnschrift" panose="020B0502040204020203" pitchFamily="34" charset="0"/>
              </a:rPr>
              <a:t>Campañas de reactivación</a:t>
            </a:r>
          </a:p>
          <a:p>
            <a:pPr marL="171450" indent="-171450"/>
            <a:r>
              <a:rPr lang="es-ES" sz="1200" dirty="0">
                <a:latin typeface="Bahnschrift" panose="020B0502040204020203" pitchFamily="34" charset="0"/>
              </a:rPr>
              <a:t>Descuentos o incentivos</a:t>
            </a:r>
          </a:p>
          <a:p>
            <a:pPr marL="171450" indent="-171450"/>
            <a:r>
              <a:rPr lang="es-ES" sz="1200" dirty="0">
                <a:latin typeface="Bahnschrift" panose="020B0502040204020203" pitchFamily="34" charset="0"/>
              </a:rPr>
              <a:t>Ofertas limitadas y Segmentación</a:t>
            </a:r>
            <a:endParaRPr sz="1200" dirty="0">
              <a:latin typeface="Bahnschrift" panose="020B0502040204020203" pitchFamily="34" charset="0"/>
            </a:endParaRPr>
          </a:p>
        </p:txBody>
      </p:sp>
      <p:sp>
        <p:nvSpPr>
          <p:cNvPr id="25" name="Google Shape;97;p17">
            <a:extLst>
              <a:ext uri="{FF2B5EF4-FFF2-40B4-BE49-F238E27FC236}">
                <a16:creationId xmlns:a16="http://schemas.microsoft.com/office/drawing/2014/main" id="{72CCEF42-D79F-40BB-87F9-EF14B1261441}"/>
              </a:ext>
            </a:extLst>
          </p:cNvPr>
          <p:cNvSpPr txBox="1">
            <a:spLocks/>
          </p:cNvSpPr>
          <p:nvPr/>
        </p:nvSpPr>
        <p:spPr>
          <a:xfrm>
            <a:off x="4746811" y="2018519"/>
            <a:ext cx="4085488" cy="23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Mejorar modelo actual de </a:t>
            </a:r>
            <a:r>
              <a:rPr lang="es-ES" sz="1200" dirty="0" err="1">
                <a:latin typeface="Bahnschrift" panose="020B0502040204020203" pitchFamily="34" charset="0"/>
              </a:rPr>
              <a:t>XGBoost</a:t>
            </a: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Exploración con modelos más sofisticados</a:t>
            </a:r>
          </a:p>
          <a:p>
            <a:pPr marL="228600" indent="-228600">
              <a:buFont typeface="Arial"/>
              <a:buAutoNum type="arabicPeriod"/>
            </a:pP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Segmentación No supervisada de clientes</a:t>
            </a:r>
          </a:p>
          <a:p>
            <a:pPr marL="228600" indent="-228600">
              <a:buFont typeface="Arial"/>
              <a:buAutoNum type="arabicPeriod"/>
            </a:pP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Sistemas de Recomendación</a:t>
            </a:r>
          </a:p>
          <a:p>
            <a:pPr marL="228600" indent="-228600">
              <a:buFont typeface="Arial"/>
              <a:buAutoNum type="arabicPeriod"/>
            </a:pP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s-ES" sz="1200" dirty="0" err="1">
                <a:latin typeface="Bahnschrift" panose="020B0502040204020203" pitchFamily="34" charset="0"/>
              </a:rPr>
              <a:t>Deploy</a:t>
            </a:r>
            <a:r>
              <a:rPr lang="es-ES" sz="1200" dirty="0">
                <a:latin typeface="Bahnschrift" panose="020B0502040204020203" pitchFamily="34" charset="0"/>
              </a:rPr>
              <a:t> y Monitorización + Modelo </a:t>
            </a:r>
            <a:r>
              <a:rPr lang="es-ES" sz="1200" dirty="0" err="1">
                <a:latin typeface="Bahnschrift" panose="020B0502040204020203" pitchFamily="34" charset="0"/>
              </a:rPr>
              <a:t>MarketingMix</a:t>
            </a:r>
            <a:endParaRPr lang="es-ES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179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377</TotalTime>
  <Words>178</Words>
  <Application>Microsoft Office PowerPoint</Application>
  <PresentationFormat>Presentación en pantalla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Bahnschrift</vt:lpstr>
      <vt:lpstr>Simple Light</vt:lpstr>
      <vt:lpstr>Modelo de Fidelización y Recompra</vt:lpstr>
      <vt:lpstr>Descripción del Problema</vt:lpstr>
      <vt:lpstr>Insights - Países</vt:lpstr>
      <vt:lpstr>Transformación de Datos</vt:lpstr>
      <vt:lpstr>Insights - Clientes</vt:lpstr>
      <vt:lpstr>Modelos y Evaluación</vt:lpstr>
      <vt:lpstr>Variables</vt:lpstr>
      <vt:lpstr>Acciones de Negocio y Siguientes Pasos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Fidelización y Recompra</dc:title>
  <cp:lastModifiedBy>Henry Fernandes</cp:lastModifiedBy>
  <cp:revision>27</cp:revision>
  <dcterms:modified xsi:type="dcterms:W3CDTF">2026-03-26T16:17:04Z</dcterms:modified>
</cp:coreProperties>
</file>